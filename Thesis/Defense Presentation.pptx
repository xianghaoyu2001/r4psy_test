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7" r:id="rId1"/>
  </p:sldMasterIdLst>
  <p:notesMasterIdLst>
    <p:notesMasterId r:id="rId19"/>
  </p:notesMasterIdLst>
  <p:sldIdLst>
    <p:sldId id="257" r:id="rId2"/>
    <p:sldId id="261" r:id="rId3"/>
    <p:sldId id="260" r:id="rId4"/>
    <p:sldId id="265" r:id="rId5"/>
    <p:sldId id="269" r:id="rId6"/>
    <p:sldId id="267" r:id="rId7"/>
    <p:sldId id="268" r:id="rId8"/>
    <p:sldId id="270" r:id="rId9"/>
    <p:sldId id="271" r:id="rId10"/>
    <p:sldId id="277" r:id="rId11"/>
    <p:sldId id="272" r:id="rId12"/>
    <p:sldId id="273" r:id="rId13"/>
    <p:sldId id="274" r:id="rId14"/>
    <p:sldId id="280" r:id="rId15"/>
    <p:sldId id="278" r:id="rId16"/>
    <p:sldId id="279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E2C70-4962-42D4-9A22-F86CD5C094DF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6DCA3-8442-437A-ACB2-800907F8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22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7876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3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695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7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9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6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0366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1862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40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8765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C0D13-4840-4AA0-8FE2-C73695367DE5}" type="datetimeFigureOut">
              <a:rPr lang="en-US" smtClean="0"/>
              <a:t>8/25/2017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4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18" Type="http://schemas.openxmlformats.org/officeDocument/2006/relationships/image" Target="../media/image1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" Type="http://schemas.openxmlformats.org/officeDocument/2006/relationships/image" Target="../media/image2.jpg"/><Relationship Id="rId16" Type="http://schemas.openxmlformats.org/officeDocument/2006/relationships/image" Target="../media/image1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5" Type="http://schemas.openxmlformats.org/officeDocument/2006/relationships/image" Target="../media/image15.pn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8842" y="945767"/>
            <a:ext cx="103543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Remotely Close Associations: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Openness to Experience and Semantic Memory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3613" y="4378410"/>
            <a:ext cx="6884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Alexander Christensen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Thesis Defense</a:t>
            </a:r>
          </a:p>
        </p:txBody>
      </p:sp>
    </p:spTree>
    <p:extLst>
      <p:ext uri="{BB962C8B-B14F-4D97-AF65-F5344CB8AC3E}">
        <p14:creationId xmlns:p14="http://schemas.microsoft.com/office/powerpoint/2010/main" val="151839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Why should openness to experience be related to semantic memory?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9098" y="1797583"/>
            <a:ext cx="116975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Openness is highly related to many cognitive attributes: intelligence, working memory, autobiographical memory, implicit memory, insight problem solving, imagination, and creativity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Broad general knowledge: crystallized intelligence, curiosity, love of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Cognitive flexibility: divergent thinking, overcoming functional fixedness, diversity of experiences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Creative cognition: creative achievement, remote associates test, metaphor production, humor production, affinity for novelty and uniqueness (originality)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Theoretical reasons: open people have a tendency to seek out, comprehend, and utilize semantic information (DeYoung, 2015)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Empirical reasons: Verb Generation (Prabhakaran et al., 2013) and Essay Response (Kwantes et al. 2016)</a:t>
            </a:r>
          </a:p>
        </p:txBody>
      </p:sp>
    </p:spTree>
    <p:extLst>
      <p:ext uri="{BB962C8B-B14F-4D97-AF65-F5344CB8AC3E}">
        <p14:creationId xmlns:p14="http://schemas.microsoft.com/office/powerpoint/2010/main" val="303503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Network 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59242" y="1519881"/>
                <a:ext cx="9485221" cy="4110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</a:rPr>
                  <a:t>Average Shortest Path Length (ASPL): mean distance between any two nodes in the network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</a:rPr>
                  <a:t>Clustering Coefficient (CC): refers to the extent to which two neighbors of a node will be neighbors themselves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</a:rPr>
                  <a:t>Small-worldness (S): small ASPL and large CC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𝐶𝐶</m:t>
                            </m:r>
                          </m:num>
                          <m:den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𝐶𝐶</m:t>
                            </m:r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𝑟𝑎𝑛𝑑𝑜𝑚</m:t>
                            </m:r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𝐴𝑆𝑃𝐿</m:t>
                            </m:r>
                          </m:num>
                          <m:den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𝐴𝑆𝑃𝐿</m:t>
                            </m:r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𝑟𝑎𝑛𝑑𝑜𝑚</m:t>
                            </m:r>
                            <m:r>
                              <a:rPr lang="en-US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endParaRPr lang="en-US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</a:rPr>
                  <a:t>Modularity (Q): measure of compartmentalized sections in the network known as network communities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242" y="1519881"/>
                <a:ext cx="9485221" cy="4110292"/>
              </a:xfrm>
              <a:prstGeom prst="rect">
                <a:avLst/>
              </a:prstGeom>
              <a:blipFill>
                <a:blip r:embed="rId2"/>
                <a:stretch>
                  <a:fillRect l="-900" t="-1185" b="-2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396" y="4473146"/>
            <a:ext cx="6556911" cy="2384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6211669"/>
            <a:ext cx="3434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Taken from Watts &amp; Strogatz (1998)</a:t>
            </a:r>
          </a:p>
        </p:txBody>
      </p:sp>
    </p:spTree>
    <p:extLst>
      <p:ext uri="{BB962C8B-B14F-4D97-AF65-F5344CB8AC3E}">
        <p14:creationId xmlns:p14="http://schemas.microsoft.com/office/powerpoint/2010/main" val="269481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Present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9242" y="1760512"/>
            <a:ext cx="97261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Based on openness’s associations with broad general knowledge, cognitive flexibility, and creativity, it’s expected that open people will differ in relation to their semantic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It’s also likely that open people will have more individual and unique semantic associations because of their tendency toward novelty, learning, and knowledge</a:t>
            </a:r>
          </a:p>
        </p:txBody>
      </p:sp>
    </p:spTree>
    <p:extLst>
      <p:ext uri="{BB962C8B-B14F-4D97-AF65-F5344CB8AC3E}">
        <p14:creationId xmlns:p14="http://schemas.microsoft.com/office/powerpoint/2010/main" val="25821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Predictions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631797"/>
              </p:ext>
            </p:extLst>
          </p:nvPr>
        </p:nvGraphicFramePr>
        <p:xfrm>
          <a:off x="1277488" y="1535213"/>
          <a:ext cx="10100767" cy="438912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584835">
                  <a:extLst>
                    <a:ext uri="{9D8B030D-6E8A-4147-A177-3AD203B41FA5}">
                      <a16:colId xmlns:a16="http://schemas.microsoft.com/office/drawing/2014/main" val="1224274903"/>
                    </a:ext>
                  </a:extLst>
                </a:gridCol>
                <a:gridCol w="2109534">
                  <a:extLst>
                    <a:ext uri="{9D8B030D-6E8A-4147-A177-3AD203B41FA5}">
                      <a16:colId xmlns:a16="http://schemas.microsoft.com/office/drawing/2014/main" val="3672832391"/>
                    </a:ext>
                  </a:extLst>
                </a:gridCol>
                <a:gridCol w="7406398">
                  <a:extLst>
                    <a:ext uri="{9D8B030D-6E8A-4147-A177-3AD203B41FA5}">
                      <a16:colId xmlns:a16="http://schemas.microsoft.com/office/drawing/2014/main" val="2381334583"/>
                    </a:ext>
                  </a:extLst>
                </a:gridCol>
              </a:tblGrid>
              <a:tr h="4294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DV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Expected Effect (if any)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Interpretation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8843439"/>
                  </a:ext>
                </a:extLst>
              </a:tr>
              <a:tr h="4294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none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none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2557880"/>
                  </a:ext>
                </a:extLst>
              </a:tr>
              <a:tr h="858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ASPL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Negative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As openness increases, networks will become less spread out and more condensed, suggesting increased interconnectivity between associations.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9351379"/>
                  </a:ext>
                </a:extLst>
              </a:tr>
              <a:tr h="858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Q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Negative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As openness increases, networks will become less rigid and compartmentalized, suggesting decreased categorization of groupings.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4807196"/>
                  </a:ext>
                </a:extLst>
              </a:tr>
              <a:tr h="4294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Negative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Networks will become more condensed, as openness increases.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3277866"/>
                  </a:ext>
                </a:extLst>
              </a:tr>
              <a:tr h="858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Positive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As openness increases, networks will be more clustered and have shorter path lengths, which suggests greater flexibility and efficiency between associations.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3402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64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129" y="1708260"/>
            <a:ext cx="109738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 total, </a:t>
            </a:r>
            <a:r>
              <a:rPr lang="en-US" sz="2400" i="1" dirty="0">
                <a:solidFill>
                  <a:schemeClr val="bg1"/>
                </a:solidFill>
              </a:rPr>
              <a:t>n </a:t>
            </a:r>
            <a:r>
              <a:rPr lang="en-US" sz="2400" dirty="0">
                <a:solidFill>
                  <a:schemeClr val="bg1"/>
                </a:solidFill>
              </a:rPr>
              <a:t>= 705 people participated in the current study, collected in three different samples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After removal of inattentive responses and missing data, </a:t>
            </a:r>
            <a:r>
              <a:rPr lang="en-US" sz="2400" i="1" dirty="0">
                <a:solidFill>
                  <a:schemeClr val="bg1"/>
                </a:solidFill>
              </a:rPr>
              <a:t>n </a:t>
            </a:r>
            <a:r>
              <a:rPr lang="en-US" sz="2400" dirty="0">
                <a:solidFill>
                  <a:schemeClr val="bg1"/>
                </a:solidFill>
              </a:rPr>
              <a:t>= 497 remained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People completed a measure of openness to experience using the NEO-FFI personality inventory (12 items)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People completed a measure of semantic verbal fluency task (i.e., animals; 1 min.)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From the </a:t>
            </a:r>
            <a:r>
              <a:rPr lang="en-US" sz="2400" i="1" dirty="0">
                <a:solidFill>
                  <a:schemeClr val="bg1"/>
                </a:solidFill>
              </a:rPr>
              <a:t>n </a:t>
            </a:r>
            <a:r>
              <a:rPr lang="en-US" sz="2400" dirty="0">
                <a:solidFill>
                  <a:schemeClr val="bg1"/>
                </a:solidFill>
              </a:rPr>
              <a:t>= 497 people, 3 openness groups of high (</a:t>
            </a:r>
            <a:r>
              <a:rPr lang="en-US" sz="2400" i="1" dirty="0">
                <a:solidFill>
                  <a:schemeClr val="bg1"/>
                </a:solidFill>
              </a:rPr>
              <a:t>SD </a:t>
            </a:r>
            <a:r>
              <a:rPr lang="en-US" sz="2400" dirty="0">
                <a:solidFill>
                  <a:schemeClr val="bg1"/>
                </a:solidFill>
              </a:rPr>
              <a:t>&gt; .9, </a:t>
            </a:r>
            <a:r>
              <a:rPr lang="en-US" sz="2400" i="1" dirty="0">
                <a:solidFill>
                  <a:schemeClr val="bg1"/>
                </a:solidFill>
              </a:rPr>
              <a:t>n </a:t>
            </a:r>
            <a:r>
              <a:rPr lang="en-US" sz="2400" dirty="0">
                <a:solidFill>
                  <a:schemeClr val="bg1"/>
                </a:solidFill>
              </a:rPr>
              <a:t>= 115),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moderate (.2 &gt; </a:t>
            </a:r>
            <a:r>
              <a:rPr lang="en-US" sz="2400" i="1" dirty="0">
                <a:solidFill>
                  <a:schemeClr val="bg1"/>
                </a:solidFill>
              </a:rPr>
              <a:t>SD </a:t>
            </a:r>
            <a:r>
              <a:rPr lang="en-US" sz="2400" dirty="0">
                <a:solidFill>
                  <a:schemeClr val="bg1"/>
                </a:solidFill>
              </a:rPr>
              <a:t>&gt;</a:t>
            </a:r>
            <a:r>
              <a:rPr lang="en-US" sz="2400" i="1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-.2</a:t>
            </a:r>
            <a:r>
              <a:rPr lang="en-US" sz="2400" i="1" dirty="0">
                <a:solidFill>
                  <a:schemeClr val="bg1"/>
                </a:solidFill>
              </a:rPr>
              <a:t>, n </a:t>
            </a:r>
            <a:r>
              <a:rPr lang="en-US" sz="2400" dirty="0">
                <a:solidFill>
                  <a:schemeClr val="bg1"/>
                </a:solidFill>
              </a:rPr>
              <a:t>=121), and low (</a:t>
            </a:r>
            <a:r>
              <a:rPr lang="en-US" sz="2400" i="1" dirty="0">
                <a:solidFill>
                  <a:schemeClr val="bg1"/>
                </a:solidFill>
              </a:rPr>
              <a:t>SD </a:t>
            </a:r>
            <a:r>
              <a:rPr lang="en-US" sz="2400" dirty="0">
                <a:solidFill>
                  <a:schemeClr val="bg1"/>
                </a:solidFill>
              </a:rPr>
              <a:t>&lt;</a:t>
            </a:r>
            <a:r>
              <a:rPr lang="en-US" sz="2400" i="1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-.9, </a:t>
            </a:r>
            <a:r>
              <a:rPr lang="en-US" sz="2400" i="1" dirty="0">
                <a:solidFill>
                  <a:schemeClr val="bg1"/>
                </a:solidFill>
              </a:rPr>
              <a:t>n </a:t>
            </a:r>
            <a:r>
              <a:rPr lang="en-US" sz="2400" dirty="0">
                <a:solidFill>
                  <a:schemeClr val="bg1"/>
                </a:solidFill>
              </a:rPr>
              <a:t>= 118) were formed</a:t>
            </a:r>
          </a:p>
        </p:txBody>
      </p:sp>
    </p:spTree>
    <p:extLst>
      <p:ext uri="{BB962C8B-B14F-4D97-AF65-F5344CB8AC3E}">
        <p14:creationId xmlns:p14="http://schemas.microsoft.com/office/powerpoint/2010/main" val="114737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Analyses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9242" y="1760512"/>
            <a:ext cx="97261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Behavioral:</a:t>
            </a:r>
            <a:r>
              <a:rPr lang="en-US" sz="2400" dirty="0">
                <a:solidFill>
                  <a:schemeClr val="bg1"/>
                </a:solidFill>
              </a:rPr>
              <a:t> number of individual responses, number of unique responses, early conventional responses, </a:t>
            </a:r>
            <a:r>
              <a:rPr lang="en-US" sz="2400">
                <a:solidFill>
                  <a:schemeClr val="bg1"/>
                </a:solidFill>
              </a:rPr>
              <a:t>and response </a:t>
            </a:r>
            <a:r>
              <a:rPr lang="en-US" sz="2400" dirty="0">
                <a:solidFill>
                  <a:schemeClr val="bg1"/>
                </a:solidFill>
              </a:rPr>
              <a:t>frequency proportion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Network:</a:t>
            </a:r>
            <a:r>
              <a:rPr lang="en-US" sz="2400" dirty="0">
                <a:solidFill>
                  <a:schemeClr val="bg1"/>
                </a:solidFill>
              </a:rPr>
              <a:t> bootstrapped partial networks (1,000 iterations), using 50% of  the nodes, were generated to statistically assess differences between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Polynomial ANOVAs were used for individual and unique responses, early conventional responses, and all network measures</a:t>
            </a:r>
          </a:p>
        </p:txBody>
      </p:sp>
    </p:spTree>
    <p:extLst>
      <p:ext uri="{BB962C8B-B14F-4D97-AF65-F5344CB8AC3E}">
        <p14:creationId xmlns:p14="http://schemas.microsoft.com/office/powerpoint/2010/main" val="273695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Behavioral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8302" y="1760512"/>
            <a:ext cx="1060704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Individual responses:</a:t>
            </a:r>
            <a:r>
              <a:rPr lang="en-US" sz="2400" dirty="0">
                <a:solidFill>
                  <a:schemeClr val="bg1"/>
                </a:solidFill>
              </a:rPr>
              <a:t> linear,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963) = 47.64,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&lt; .001,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.05, but no quadratic trend,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963) = .16,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.69,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.00</a:t>
            </a:r>
          </a:p>
          <a:p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- High (</a:t>
            </a:r>
            <a:r>
              <a:rPr lang="en-US" sz="2400" b="1" i="1" dirty="0">
                <a:solidFill>
                  <a:schemeClr val="bg1"/>
                </a:solidFill>
              </a:rPr>
              <a:t>n </a:t>
            </a:r>
            <a:r>
              <a:rPr lang="en-US" sz="2400" b="1" dirty="0">
                <a:solidFill>
                  <a:schemeClr val="bg1"/>
                </a:solidFill>
              </a:rPr>
              <a:t>= 257) was greater than the moderate (</a:t>
            </a:r>
            <a:r>
              <a:rPr lang="en-US" sz="2400" b="1" i="1" dirty="0">
                <a:solidFill>
                  <a:schemeClr val="bg1"/>
                </a:solidFill>
              </a:rPr>
              <a:t>n </a:t>
            </a:r>
            <a:r>
              <a:rPr lang="en-US" sz="2400" b="1" dirty="0">
                <a:solidFill>
                  <a:schemeClr val="bg1"/>
                </a:solidFill>
              </a:rPr>
              <a:t>= 221</a:t>
            </a:r>
            <a:r>
              <a:rPr lang="en-US" sz="2400" b="1" i="1" dirty="0">
                <a:solidFill>
                  <a:schemeClr val="bg1"/>
                </a:solidFill>
              </a:rPr>
              <a:t>; p </a:t>
            </a:r>
            <a:r>
              <a:rPr lang="en-US" sz="2400" b="1" dirty="0">
                <a:solidFill>
                  <a:schemeClr val="bg1"/>
                </a:solidFill>
              </a:rPr>
              <a:t>= .006) and the 	low (</a:t>
            </a:r>
            <a:r>
              <a:rPr lang="en-US" sz="2400" b="1" i="1" dirty="0">
                <a:solidFill>
                  <a:schemeClr val="bg1"/>
                </a:solidFill>
              </a:rPr>
              <a:t>n</a:t>
            </a:r>
            <a:r>
              <a:rPr lang="en-US" sz="2400" b="1" dirty="0">
                <a:solidFill>
                  <a:schemeClr val="bg1"/>
                </a:solidFill>
              </a:rPr>
              <a:t> = 177; 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&lt; .001)  openness groups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- Moderate was also greater than low (</a:t>
            </a:r>
            <a:r>
              <a:rPr lang="en-US" sz="2400" b="1" i="1" dirty="0">
                <a:solidFill>
                  <a:schemeClr val="bg1"/>
                </a:solidFill>
              </a:rPr>
              <a:t>p </a:t>
            </a:r>
            <a:r>
              <a:rPr lang="en-US" sz="2400" b="1" dirty="0">
                <a:solidFill>
                  <a:schemeClr val="bg1"/>
                </a:solidFill>
              </a:rPr>
              <a:t>&lt; .001)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Unique responses:</a:t>
            </a:r>
            <a:r>
              <a:rPr lang="en-US" sz="2400" dirty="0">
                <a:solidFill>
                  <a:schemeClr val="bg1"/>
                </a:solidFill>
              </a:rPr>
              <a:t> linear,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963) = 31.62,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&lt; .001,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.03, but no quadratic trend,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963) = 1.72,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.19,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.00</a:t>
            </a:r>
          </a:p>
          <a:p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- High (</a:t>
            </a:r>
            <a:r>
              <a:rPr lang="en-US" sz="2400" b="1" i="1" dirty="0">
                <a:solidFill>
                  <a:schemeClr val="bg1"/>
                </a:solidFill>
              </a:rPr>
              <a:t>n</a:t>
            </a:r>
            <a:r>
              <a:rPr lang="en-US" sz="2400" b="1" dirty="0">
                <a:solidFill>
                  <a:schemeClr val="bg1"/>
                </a:solidFill>
              </a:rPr>
              <a:t> = 68) had more than the moderate (</a:t>
            </a:r>
            <a:r>
              <a:rPr lang="en-US" sz="2400" b="1" i="1" dirty="0">
                <a:solidFill>
                  <a:schemeClr val="bg1"/>
                </a:solidFill>
              </a:rPr>
              <a:t>n</a:t>
            </a:r>
            <a:r>
              <a:rPr lang="en-US" sz="2400" b="1" dirty="0">
                <a:solidFill>
                  <a:schemeClr val="bg1"/>
                </a:solidFill>
              </a:rPr>
              <a:t> = 35) and the low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(</a:t>
            </a:r>
            <a:r>
              <a:rPr lang="en-US" sz="2400" b="1" i="1" dirty="0">
                <a:solidFill>
                  <a:schemeClr val="bg1"/>
                </a:solidFill>
              </a:rPr>
              <a:t>n</a:t>
            </a:r>
            <a:r>
              <a:rPr lang="en-US" sz="2400" b="1" dirty="0">
                <a:solidFill>
                  <a:schemeClr val="bg1"/>
                </a:solidFill>
              </a:rPr>
              <a:t> = 21; both 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’s &lt; .001) openness groups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- Moderate and the low openness groups did not differ in the number of 	unique responses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.22)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18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9547" y="137967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Behavioral Results cont.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023194"/>
              </p:ext>
            </p:extLst>
          </p:nvPr>
        </p:nvGraphicFramePr>
        <p:xfrm>
          <a:off x="2414842" y="825749"/>
          <a:ext cx="6523034" cy="5927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825">
                  <a:extLst>
                    <a:ext uri="{9D8B030D-6E8A-4147-A177-3AD203B41FA5}">
                      <a16:colId xmlns:a16="http://schemas.microsoft.com/office/drawing/2014/main" val="1963450078"/>
                    </a:ext>
                  </a:extLst>
                </a:gridCol>
                <a:gridCol w="1143825">
                  <a:extLst>
                    <a:ext uri="{9D8B030D-6E8A-4147-A177-3AD203B41FA5}">
                      <a16:colId xmlns:a16="http://schemas.microsoft.com/office/drawing/2014/main" val="862533221"/>
                    </a:ext>
                  </a:extLst>
                </a:gridCol>
                <a:gridCol w="1346150">
                  <a:extLst>
                    <a:ext uri="{9D8B030D-6E8A-4147-A177-3AD203B41FA5}">
                      <a16:colId xmlns:a16="http://schemas.microsoft.com/office/drawing/2014/main" val="867993012"/>
                    </a:ext>
                  </a:extLst>
                </a:gridCol>
                <a:gridCol w="1444617">
                  <a:extLst>
                    <a:ext uri="{9D8B030D-6E8A-4147-A177-3AD203B41FA5}">
                      <a16:colId xmlns:a16="http://schemas.microsoft.com/office/drawing/2014/main" val="11107864"/>
                    </a:ext>
                  </a:extLst>
                </a:gridCol>
                <a:gridCol w="1444617">
                  <a:extLst>
                    <a:ext uri="{9D8B030D-6E8A-4147-A177-3AD203B41FA5}">
                      <a16:colId xmlns:a16="http://schemas.microsoft.com/office/drawing/2014/main" val="228880455"/>
                    </a:ext>
                  </a:extLst>
                </a:gridCol>
              </a:tblGrid>
              <a:tr h="135901">
                <a:tc rowSpan="35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Low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Moderate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High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High Continued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68275175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Caterpillar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Anaconda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Amoeba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Lory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2103141284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Catfish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Bald Eagle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Angel Fish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Macaw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1167205951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Centaur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Bearded Dragon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Axolotl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Marmoset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2294818496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Fruit Fly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Bearded Lizard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Babel Fish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Okapi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233330002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Gnat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Black Lab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Badger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Osprey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2085083808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Grouper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Blowfish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Barracuda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Oyster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173128481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Honey Bee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Bonobo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Beagle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Peacock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977891169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Hound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Bronco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Binturong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Phoenix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872885817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Hummingbird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Chocolate Lab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Blue Whale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Pit Bull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221292986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Kiwi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Dragonfly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Boa Constrictor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Pit Viper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1992423227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Mink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Gibbon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Boxer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Plankton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003871660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Muskrat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Hornet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Brown Bear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Poison Dart Frog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697375763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Orca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Husky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Bumblebee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Praying Mantis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010155751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Reindeer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Komodo Dragon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Capybara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Puffin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480550506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Reptile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Lion Fish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Cayman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Pygmy Goat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2113333406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Russian Blue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Mammoth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Chickadee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Red Wolf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652591710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Shih Tzu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Mermaid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Crane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Salmon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2910813534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Sperm Whale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Midge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Cuttlefish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Sand Flea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156276293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Water Bear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Mountain Hyrax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Deer Mouse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Sea Cucumber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022197736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Wildcat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Naked Mole Rat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Dik Dik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Sea Horse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852647499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Wolverine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Pheasant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Dingo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Shiba Inu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2782908220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Piranha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Doberman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Shrew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2406916091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Red Panda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Dodo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Skink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796989259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Rhesus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Dugong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Small-Mouth Bass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38410969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Sea Sponge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Egret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Snow Leopard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581395927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Sea Urchin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Flea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Sunfish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2144300009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Tasmanian Devil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Flying Squirrel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Swordfish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24491166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Tiger Shark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Galago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Tapeworm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171173302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Tuna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Gray Wolf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Tegu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4096237214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Water Buffalo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House Fly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Tick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939661993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Whale Shark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Ibis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T-Rex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1825942750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Wombat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Jackalope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Wallaby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3016314893"/>
                  </a:ext>
                </a:extLst>
              </a:tr>
              <a:tr h="135901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Yellow Jacket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Large-Mouth Bass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Weasel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b"/>
                </a:tc>
                <a:extLst>
                  <a:ext uri="{0D108BD9-81ED-4DB2-BD59-A6C34878D82A}">
                    <a16:rowId xmlns:a16="http://schemas.microsoft.com/office/drawing/2014/main" val="139942709"/>
                  </a:ext>
                </a:extLst>
              </a:tr>
              <a:tr h="7858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05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66" marR="43566" marT="0" marB="0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3566" marR="4356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Lop Bunny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White-Tailed Deer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6" marR="43566" marT="0" marB="0" anchor="ctr"/>
                </a:tc>
                <a:extLst>
                  <a:ext uri="{0D108BD9-81ED-4DB2-BD59-A6C34878D82A}">
                    <a16:rowId xmlns:a16="http://schemas.microsoft.com/office/drawing/2014/main" val="227471140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067806" y="1333101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6030097" y="2144362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21306" y="5480188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501190" y="1504046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501190" y="5645153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0097" y="1966435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30097" y="2618852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42196" y="4435570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472355" y="2292643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501190" y="4286375"/>
            <a:ext cx="1433384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734570" y="3943532"/>
            <a:ext cx="1327468" cy="134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4702629" y="2300975"/>
            <a:ext cx="1327468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696743" y="1671794"/>
            <a:ext cx="1327468" cy="17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702629" y="2966209"/>
            <a:ext cx="1327468" cy="148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77099" y="3613658"/>
            <a:ext cx="1162595" cy="1563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563806" y="3924482"/>
            <a:ext cx="1162596" cy="134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392396" y="258303"/>
            <a:ext cx="1385897" cy="103942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28087" y="518915"/>
            <a:ext cx="93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Axolotl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767" y="1543644"/>
            <a:ext cx="1372305" cy="10792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45369" y="1898616"/>
            <a:ext cx="1210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Binturong</a:t>
            </a:r>
          </a:p>
          <a:p>
            <a:r>
              <a:rPr lang="en-US" dirty="0">
                <a:solidFill>
                  <a:schemeClr val="bg1"/>
                </a:solidFill>
              </a:rPr>
              <a:t>(Bear Cat)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089" y="2874842"/>
            <a:ext cx="1372304" cy="10306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28087" y="3200031"/>
            <a:ext cx="1210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Galago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05592" y="4165281"/>
            <a:ext cx="1334110" cy="8894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85041" y="4480325"/>
            <a:ext cx="93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Okapi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336" y="5324220"/>
            <a:ext cx="1372304" cy="103380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362581" y="5656455"/>
            <a:ext cx="93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Tegu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5416" y="1840522"/>
            <a:ext cx="1344128" cy="134412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981335" y="2240024"/>
            <a:ext cx="1097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Mountain Hyrax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" y="3862546"/>
            <a:ext cx="2071711" cy="10358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163884" y="4062640"/>
            <a:ext cx="1305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Water Bear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(Tardigrade)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495" y="227750"/>
            <a:ext cx="1372304" cy="112185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228085" y="518568"/>
            <a:ext cx="93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Beagle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335" y="1564592"/>
            <a:ext cx="1342057" cy="10542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288280" y="1890541"/>
            <a:ext cx="93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Boxer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089" y="2874842"/>
            <a:ext cx="1372302" cy="102922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076453" y="3200031"/>
            <a:ext cx="123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Doberman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986" y="4233753"/>
            <a:ext cx="1473654" cy="73682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260028" y="4434656"/>
            <a:ext cx="123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Pit Bull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656" y="5334974"/>
            <a:ext cx="1415983" cy="102304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177802" y="5666190"/>
            <a:ext cx="123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Shiba Inu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34148" y="2161840"/>
            <a:ext cx="1162595" cy="1563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97" y="357312"/>
            <a:ext cx="1729410" cy="115870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134020" y="715429"/>
            <a:ext cx="113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Black Lab</a:t>
            </a: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1" y="1681195"/>
            <a:ext cx="1685956" cy="114029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070933" y="1945653"/>
            <a:ext cx="1136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Chocolate Lab</a:t>
            </a: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59" y="2986667"/>
            <a:ext cx="1394139" cy="102726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2070933" y="3367190"/>
            <a:ext cx="113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Hound</a:t>
            </a:r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97" y="4185141"/>
            <a:ext cx="1372701" cy="1123833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067222" y="4562391"/>
            <a:ext cx="113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Husky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74" y="5480188"/>
            <a:ext cx="1735429" cy="102242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067222" y="5806733"/>
            <a:ext cx="113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Shih Tzu</a:t>
            </a:r>
          </a:p>
        </p:txBody>
      </p:sp>
    </p:spTree>
    <p:extLst>
      <p:ext uri="{BB962C8B-B14F-4D97-AF65-F5344CB8AC3E}">
        <p14:creationId xmlns:p14="http://schemas.microsoft.com/office/powerpoint/2010/main" val="88768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7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7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6" grpId="0"/>
      <p:bldP spid="26" grpId="1"/>
      <p:bldP spid="29" grpId="0"/>
      <p:bldP spid="29" grpId="1"/>
      <p:bldP spid="32" grpId="0"/>
      <p:bldP spid="32" grpId="1"/>
      <p:bldP spid="35" grpId="0"/>
      <p:bldP spid="35" grpId="1"/>
      <p:bldP spid="38" grpId="0"/>
      <p:bldP spid="38" grpId="1"/>
      <p:bldP spid="41" grpId="0"/>
      <p:bldP spid="41" grpId="1"/>
      <p:bldP spid="44" grpId="0"/>
      <p:bldP spid="44" grpId="1"/>
      <p:bldP spid="47" grpId="0"/>
      <p:bldP spid="51" grpId="0"/>
      <p:bldP spid="54" grpId="0"/>
      <p:bldP spid="57" grpId="0"/>
      <p:bldP spid="60" grpId="0"/>
      <p:bldP spid="61" grpId="0" animBg="1"/>
      <p:bldP spid="64" grpId="0"/>
      <p:bldP spid="67" grpId="0"/>
      <p:bldP spid="70" grpId="0"/>
      <p:bldP spid="73" grpId="0"/>
      <p:bldP spid="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Behavioral Results cont..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8057" y="1366616"/>
            <a:ext cx="1169963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Early Conventional Responses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 	- </a:t>
            </a:r>
            <a:r>
              <a:rPr lang="en-US" sz="2400" b="1" dirty="0">
                <a:solidFill>
                  <a:schemeClr val="bg1"/>
                </a:solidFill>
              </a:rPr>
              <a:t>1</a:t>
            </a:r>
            <a:r>
              <a:rPr lang="en-US" sz="2400" b="1" baseline="30000" dirty="0">
                <a:solidFill>
                  <a:schemeClr val="bg1"/>
                </a:solidFill>
              </a:rPr>
              <a:t>st</a:t>
            </a:r>
            <a:r>
              <a:rPr lang="en-US" sz="2400" b="1" dirty="0">
                <a:solidFill>
                  <a:schemeClr val="bg1"/>
                </a:solidFill>
              </a:rPr>
              <a:t> response: </a:t>
            </a:r>
            <a:r>
              <a:rPr lang="en-US" sz="2400" dirty="0">
                <a:solidFill>
                  <a:schemeClr val="bg1"/>
                </a:solidFill>
              </a:rPr>
              <a:t>linear,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351) = 5.59,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.019,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.02, 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	quadratic,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351) = 10.53,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.001,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.03, trends were significant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- High had a significantly lower proportion (.46) than the moderate (.71, 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&lt; .001)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and the low openness (.61, 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.049) groups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- Low and moderate did not differ (</a:t>
            </a:r>
            <a:r>
              <a:rPr lang="en-US" sz="2400" b="1" i="1" dirty="0">
                <a:solidFill>
                  <a:schemeClr val="bg1"/>
                </a:solidFill>
              </a:rPr>
              <a:t>p </a:t>
            </a:r>
            <a:r>
              <a:rPr lang="en-US" sz="2400" b="1" dirty="0">
                <a:solidFill>
                  <a:schemeClr val="bg1"/>
                </a:solidFill>
              </a:rPr>
              <a:t>= .24)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	- </a:t>
            </a:r>
            <a:r>
              <a:rPr lang="en-US" sz="2400" b="1" dirty="0">
                <a:solidFill>
                  <a:schemeClr val="bg1"/>
                </a:solidFill>
              </a:rPr>
              <a:t>2</a:t>
            </a:r>
            <a:r>
              <a:rPr lang="en-US" sz="2400" b="1" baseline="30000" dirty="0">
                <a:solidFill>
                  <a:schemeClr val="bg1"/>
                </a:solidFill>
              </a:rPr>
              <a:t>nd</a:t>
            </a:r>
            <a:r>
              <a:rPr lang="en-US" sz="2400" b="1" dirty="0">
                <a:solidFill>
                  <a:schemeClr val="bg1"/>
                </a:solidFill>
              </a:rPr>
              <a:t> response:</a:t>
            </a:r>
            <a:r>
              <a:rPr lang="en-US" sz="2400" dirty="0">
                <a:solidFill>
                  <a:schemeClr val="bg1"/>
                </a:solidFill>
              </a:rPr>
              <a:t> quadratic,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351) = 6.97,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.009,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.02, but no linear trend,</a:t>
            </a:r>
          </a:p>
          <a:p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351) = 1.36,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.24,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.00</a:t>
            </a:r>
          </a:p>
          <a:p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- Moderate had a greater proportion (.80) than the high openness group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(.63, 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.013) but not the low openness group (.70, 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.21)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- High and low did not differ (</a:t>
            </a:r>
            <a:r>
              <a:rPr lang="en-US" sz="2400" b="1" i="1" dirty="0">
                <a:solidFill>
                  <a:schemeClr val="bg1"/>
                </a:solidFill>
              </a:rPr>
              <a:t>p </a:t>
            </a:r>
            <a:r>
              <a:rPr lang="en-US" sz="2400" b="1" dirty="0">
                <a:solidFill>
                  <a:schemeClr val="bg1"/>
                </a:solidFill>
              </a:rPr>
              <a:t>= .47)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	- </a:t>
            </a:r>
            <a:r>
              <a:rPr lang="en-US" sz="2400" b="1" dirty="0">
                <a:solidFill>
                  <a:schemeClr val="bg1"/>
                </a:solidFill>
              </a:rPr>
              <a:t>3</a:t>
            </a:r>
            <a:r>
              <a:rPr lang="en-US" sz="2400" b="1" baseline="30000" dirty="0">
                <a:solidFill>
                  <a:schemeClr val="bg1"/>
                </a:solidFill>
              </a:rPr>
              <a:t>rd</a:t>
            </a:r>
            <a:r>
              <a:rPr lang="en-US" sz="2400" b="1" dirty="0">
                <a:solidFill>
                  <a:schemeClr val="bg1"/>
                </a:solidFill>
              </a:rPr>
              <a:t> response:</a:t>
            </a:r>
            <a:r>
              <a:rPr lang="en-US" sz="2400" dirty="0">
                <a:solidFill>
                  <a:schemeClr val="bg1"/>
                </a:solidFill>
              </a:rPr>
              <a:t> no trends across the groups</a:t>
            </a:r>
          </a:p>
        </p:txBody>
      </p:sp>
    </p:spTree>
    <p:extLst>
      <p:ext uri="{BB962C8B-B14F-4D97-AF65-F5344CB8AC3E}">
        <p14:creationId xmlns:p14="http://schemas.microsoft.com/office/powerpoint/2010/main" val="255309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Behavioral Results cont...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0343"/>
            <a:ext cx="12192000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74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Network Results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804" y="3114623"/>
            <a:ext cx="10024131" cy="374337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533565"/>
              </p:ext>
            </p:extLst>
          </p:nvPr>
        </p:nvGraphicFramePr>
        <p:xfrm>
          <a:off x="4135532" y="1127154"/>
          <a:ext cx="4384677" cy="1867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1842">
                  <a:extLst>
                    <a:ext uri="{9D8B030D-6E8A-4147-A177-3AD203B41FA5}">
                      <a16:colId xmlns:a16="http://schemas.microsoft.com/office/drawing/2014/main" val="1118442554"/>
                    </a:ext>
                  </a:extLst>
                </a:gridCol>
                <a:gridCol w="960945">
                  <a:extLst>
                    <a:ext uri="{9D8B030D-6E8A-4147-A177-3AD203B41FA5}">
                      <a16:colId xmlns:a16="http://schemas.microsoft.com/office/drawing/2014/main" val="288349786"/>
                    </a:ext>
                  </a:extLst>
                </a:gridCol>
                <a:gridCol w="960945">
                  <a:extLst>
                    <a:ext uri="{9D8B030D-6E8A-4147-A177-3AD203B41FA5}">
                      <a16:colId xmlns:a16="http://schemas.microsoft.com/office/drawing/2014/main" val="3551904083"/>
                    </a:ext>
                  </a:extLst>
                </a:gridCol>
                <a:gridCol w="960945">
                  <a:extLst>
                    <a:ext uri="{9D8B030D-6E8A-4147-A177-3AD203B41FA5}">
                      <a16:colId xmlns:a16="http://schemas.microsoft.com/office/drawing/2014/main" val="2507017180"/>
                    </a:ext>
                  </a:extLst>
                </a:gridCol>
              </a:tblGrid>
              <a:tr h="229569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100" baseline="0" dirty="0"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                                              </a:t>
                      </a:r>
                      <a:r>
                        <a:rPr lang="en-US" sz="1600" dirty="0">
                          <a:effectLst/>
                        </a:rPr>
                        <a:t>Openness Group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R w="12700" cmpd="sng"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166237"/>
                  </a:ext>
                </a:extLst>
              </a:tr>
              <a:tr h="229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Network Measure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Low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Moderate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High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466377"/>
                  </a:ext>
                </a:extLst>
              </a:tr>
              <a:tr h="229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CC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0.61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0.59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</a:rPr>
                        <a:t>0.61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272798"/>
                  </a:ext>
                </a:extLst>
              </a:tr>
              <a:tr h="229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ASPL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3.58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4.24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3.49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877492"/>
                  </a:ext>
                </a:extLst>
              </a:tr>
              <a:tr h="229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Q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0.62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0.58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0.55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08437"/>
                  </a:ext>
                </a:extLst>
              </a:tr>
              <a:tr h="229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S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</a:rPr>
                        <a:t>9.26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8.39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9.68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03904"/>
                  </a:ext>
                </a:extLst>
              </a:tr>
              <a:tr h="229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CCrand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</a:rPr>
                        <a:t>0.05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0.05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0.05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053389"/>
                  </a:ext>
                </a:extLst>
              </a:tr>
              <a:tr h="229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ASPLrand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2.76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2.75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2.74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57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520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Network Results cont.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8" y="1519881"/>
            <a:ext cx="102804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CC had a significant quadratic trend,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2997) = 19.33,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&lt; .001,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.01, but no linear trend,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2997) = 2.38,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.12,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.00</a:t>
            </a:r>
          </a:p>
          <a:p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- Moderate openness group was significantly larger CC than both the 	low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.007) and the high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&lt; .001) openness groups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- High did not significantly differ from the low openness group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.27)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326" y="3458873"/>
            <a:ext cx="4545091" cy="339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8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Network Results cont..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8" y="1519881"/>
            <a:ext cx="105809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Significant linear trend for ASPL,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2997) = 29.74,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&lt; .001,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.01, but no quadratic trend,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2997) = .38,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.54,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.00</a:t>
            </a:r>
          </a:p>
          <a:p>
            <a:pPr marL="800100" lvl="1" indent="-342900">
              <a:buFontTx/>
              <a:buChar char="-"/>
            </a:pPr>
            <a:r>
              <a:rPr lang="en-US" sz="2400" b="1" dirty="0">
                <a:solidFill>
                  <a:schemeClr val="bg1"/>
                </a:solidFill>
              </a:rPr>
              <a:t>High had a significantly smaller ASPL than the low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&lt; .001) and a marginally smaller ASPL than the moderate openness group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.073)</a:t>
            </a:r>
          </a:p>
          <a:p>
            <a:pPr marL="800100" lvl="1" indent="-342900">
              <a:buFontTx/>
              <a:buChar char="-"/>
            </a:pPr>
            <a:r>
              <a:rPr lang="en-US" sz="2400" b="1" dirty="0">
                <a:solidFill>
                  <a:schemeClr val="bg1"/>
                </a:solidFill>
              </a:rPr>
              <a:t>Moderate was significantly smaller than the low openness group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.003)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904" y="3458873"/>
            <a:ext cx="4549936" cy="339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9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Network Results cont…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7" y="1519881"/>
            <a:ext cx="106201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 had a marginally significant linear trend,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2997) = 3.35,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.067,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.00, but no quadratic trend,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2997) = 1.96,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.16,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.00</a:t>
            </a:r>
          </a:p>
          <a:p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- High was marginally larger than the moderate openness group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.084)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- Low did not differ from the high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.16), and the moderate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.95)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131" y="3458811"/>
            <a:ext cx="4535482" cy="339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2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Network Results cont....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8" y="1519881"/>
            <a:ext cx="99348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Linear trend for Q,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2997) = 15.72,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&lt; .001,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.01, but no quadratic trend, </a:t>
            </a:r>
            <a:r>
              <a:rPr lang="en-US" sz="2400" i="1" dirty="0">
                <a:solidFill>
                  <a:schemeClr val="bg1"/>
                </a:solidFill>
              </a:rPr>
              <a:t>F</a:t>
            </a:r>
            <a:r>
              <a:rPr lang="en-US" sz="2400" dirty="0">
                <a:solidFill>
                  <a:schemeClr val="bg1"/>
                </a:solidFill>
              </a:rPr>
              <a:t>(1, 2997) = .02, </a:t>
            </a:r>
            <a:r>
              <a:rPr lang="en-US" sz="2400" i="1" dirty="0">
                <a:solidFill>
                  <a:schemeClr val="bg1"/>
                </a:solidFill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 = .90, η</a:t>
            </a:r>
            <a:r>
              <a:rPr lang="en-US" sz="2400" baseline="-25000" dirty="0">
                <a:solidFill>
                  <a:schemeClr val="bg1"/>
                </a:solidFill>
              </a:rPr>
              <a:t>p</a:t>
            </a:r>
            <a:r>
              <a:rPr lang="en-US" sz="2400" baseline="30000" dirty="0">
                <a:solidFill>
                  <a:schemeClr val="bg1"/>
                </a:solidFill>
              </a:rPr>
              <a:t>2</a:t>
            </a:r>
            <a:r>
              <a:rPr lang="en-US" sz="2400" dirty="0">
                <a:solidFill>
                  <a:schemeClr val="bg1"/>
                </a:solidFill>
              </a:rPr>
              <a:t> = .00</a:t>
            </a:r>
          </a:p>
          <a:p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- High openness was significantly different from the low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&lt; .001) but 	not the moderate openness group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 .15)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- Moderate was marginally smaller than the low group (</a:t>
            </a:r>
            <a:r>
              <a:rPr lang="en-US" sz="2400" b="1" i="1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=.092)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830" y="3458874"/>
            <a:ext cx="4496083" cy="339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6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Summary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3488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People higher in openness:</a:t>
            </a:r>
          </a:p>
          <a:p>
            <a:r>
              <a:rPr lang="en-US" sz="2200" dirty="0">
                <a:solidFill>
                  <a:schemeClr val="bg1"/>
                </a:solidFill>
              </a:rPr>
              <a:t>	- had more individual and unique responses</a:t>
            </a:r>
          </a:p>
          <a:p>
            <a:r>
              <a:rPr lang="en-US" sz="2200" dirty="0">
                <a:solidFill>
                  <a:schemeClr val="bg1"/>
                </a:solidFill>
              </a:rPr>
              <a:t>	- were less likely to start with conventional responses</a:t>
            </a:r>
          </a:p>
          <a:p>
            <a:r>
              <a:rPr lang="en-US" sz="2200" dirty="0">
                <a:solidFill>
                  <a:schemeClr val="bg1"/>
                </a:solidFill>
              </a:rPr>
              <a:t>	- had a flatter conceptual frequency proportion slope</a:t>
            </a:r>
          </a:p>
          <a:p>
            <a:r>
              <a:rPr lang="en-US" sz="2200" dirty="0">
                <a:solidFill>
                  <a:schemeClr val="bg1"/>
                </a:solidFill>
              </a:rPr>
              <a:t>	- had more flexible (lower Q and larger S) and interconnected semantic networks (smaller ASPL)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The interpretation of CC in semantic networks related to creative cognition is unclear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Full semantic networks did not reflect bootstrapped partial network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 general, this evidence establishes semantic memory as a foundational cognitive component that underlies the relationship between openness to experience and creativity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Future direction: Examine the semantic network structure of openness to experience’s lower-order aspects—Intellect (associated with fluid intelligence and working memory) and Openness (associated with creative achievement and verb generation distance)</a:t>
            </a:r>
          </a:p>
        </p:txBody>
      </p:sp>
    </p:spTree>
    <p:extLst>
      <p:ext uri="{BB962C8B-B14F-4D97-AF65-F5344CB8AC3E}">
        <p14:creationId xmlns:p14="http://schemas.microsoft.com/office/powerpoint/2010/main" val="70572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1234</TotalTime>
  <Words>1130</Words>
  <Application>Microsoft Office PowerPoint</Application>
  <PresentationFormat>Widescreen</PresentationFormat>
  <Paragraphs>295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 Christensen</dc:creator>
  <cp:lastModifiedBy>A P Christensen</cp:lastModifiedBy>
  <cp:revision>99</cp:revision>
  <dcterms:created xsi:type="dcterms:W3CDTF">2017-02-14T21:36:02Z</dcterms:created>
  <dcterms:modified xsi:type="dcterms:W3CDTF">2017-08-25T14:23:02Z</dcterms:modified>
</cp:coreProperties>
</file>